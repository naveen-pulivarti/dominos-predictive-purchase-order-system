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year of Domino's transaction data, turned into next week's ingredient purchase order. Best model reached 91.96%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deliverable is a purchase order, not just a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91 variants matters: ingredient grammage is defined per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Recovery over deletion: each gap was reconstructed from relationships already in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defect most likely to silently ruin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Vijay forecast by pizza name (32 series); this project uses 91 variants.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Features chosen to match the decision being supported: a weekly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 demand means the ingredient bill spans the full menu.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Kept the weekend flag because the brief asks for it, but it reads as a weak negative signal, not a promotional uplift.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Dropping both truncated weeks improved SARIMA from 0.0852 to 0.0804 MAPE.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shuffled - the model always predicts forward in time, as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weekly series, same split, same metric - so the comparison is fair.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Spread across all five is under 2 points - the series is well behaved.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panel shows per-week error percentage.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Forecasting per variant is what makes the gram totals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order translates a statistical forecast into a procurement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explicit about limits is part of the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data-quality findings, which generalise beyond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C8102E"/>
                </a:solidFill>
                <a:latin typeface="Calibri"/>
              </a:rPr>
              <a:t>GUVI / IITM  ·  ADVANCED DATA SCIENCE  · 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83664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800" b="1" i="0">
                <a:solidFill>
                  <a:srgbClr val="C8102E"/>
                </a:solidFill>
                <a:latin typeface="Cambria"/>
              </a:rPr>
              <a:t>Domino's</a:t>
            </a:r>
            <a:r>
              <a:rPr sz="4800" b="1" i="0">
                <a:solidFill>
                  <a:srgbClr val="FFFFFF"/>
                </a:solidFill>
                <a:latin typeface="Cambria"/>
              </a:rPr>
              <a:t> - Predictive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Purchase Order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22191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A8AEB8"/>
                </a:solidFill>
                <a:latin typeface="Calibri"/>
              </a:rPr>
              <a:t>Forecasting pizza demand to order the right ingredients, in the right quantity.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18304"/>
            <a:ext cx="2377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8A33D"/>
                </a:solidFill>
                <a:latin typeface="Cambria"/>
              </a:rPr>
              <a:t>91.96%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35838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A8AEB8"/>
                </a:solidFill>
                <a:latin typeface="Calibri"/>
              </a:rPr>
              <a:t>Forecast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6" y="4718304"/>
            <a:ext cx="2377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8A33D"/>
                </a:solidFill>
                <a:latin typeface="Cambria"/>
              </a:rPr>
              <a:t>1,085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6976" y="535838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A8AEB8"/>
                </a:solidFill>
                <a:latin typeface="Calibri"/>
              </a:rPr>
              <a:t>Pizzas next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7024" y="4718304"/>
            <a:ext cx="2377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8A33D"/>
                </a:solidFill>
                <a:latin typeface="Cambria"/>
              </a:rPr>
              <a:t>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7024" y="535838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A8AEB8"/>
                </a:solidFill>
                <a:latin typeface="Calibri"/>
              </a:rPr>
              <a:t>Ingredients ordered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4718304"/>
            <a:ext cx="2377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8A33D"/>
                </a:solidFill>
                <a:latin typeface="Cambria"/>
              </a:rPr>
              <a:t>198.8 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535838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A8AEB8"/>
                </a:solidFill>
                <a:latin typeface="Calibri"/>
              </a:rPr>
              <a:t>Total order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144768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Sai Naveen Pulivarthi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8527" y="6144768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A8AEB8"/>
                </a:solidFill>
                <a:latin typeface="Calibri"/>
              </a:rPr>
              <a:t>Domain: Food Service Industry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2262E"/>
                </a:solidFill>
                <a:latin typeface="Cambri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Why ingredient ordering is a real cost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19072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993391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450" b="0" i="0">
                <a:solidFill>
                  <a:srgbClr val="22262E"/>
                </a:solidFill>
                <a:latin typeface="Calibri"/>
              </a:rPr>
              <a:t>Domino's must order perishable ingredients before it knows what will sell.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450" b="0" i="0">
                <a:solidFill>
                  <a:srgbClr val="22262E"/>
                </a:solidFill>
                <a:latin typeface="Calibri"/>
              </a:rPr>
              <a:t>Order too little and you get stockouts and lost sales. Order too much and fresh stock spoils.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73368" y="1719072"/>
            <a:ext cx="523036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993391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00437B"/>
                </a:solidFill>
                <a:latin typeface="Calibri"/>
              </a:rPr>
              <a:t>OBJECTIVES</a:t>
            </a:r>
          </a:p>
        </p:txBody>
      </p:sp>
      <p:sp>
        <p:nvSpPr>
          <p:cNvPr id="9" name="Oval 8"/>
          <p:cNvSpPr/>
          <p:nvPr/>
        </p:nvSpPr>
        <p:spPr>
          <a:xfrm>
            <a:off x="6675120" y="2386584"/>
            <a:ext cx="105156" cy="1051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2864" y="2322576"/>
            <a:ext cx="4425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62E"/>
                </a:solidFill>
                <a:latin typeface="Calibri"/>
              </a:rPr>
              <a:t>Forecast future pizza sales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0" y="2807208"/>
            <a:ext cx="105156" cy="10515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12864" y="2743200"/>
            <a:ext cx="4425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62E"/>
                </a:solidFill>
                <a:latin typeface="Calibri"/>
              </a:rPr>
              <a:t>Convert that forecast into an ingredient purchase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9319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C8102E"/>
                </a:solidFill>
                <a:latin typeface="Calibri"/>
              </a:rPr>
              <a:t>BUSINESS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42816"/>
            <a:ext cx="2596896" cy="117043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443983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C8102E"/>
                </a:solidFill>
                <a:latin typeface="Cambria"/>
              </a:rPr>
              <a:t>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77316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Stock matched to real demand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6704" y="4242816"/>
            <a:ext cx="2596896" cy="117043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4443983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C8102E"/>
                </a:solidFill>
                <a:latin typeface="Cambria"/>
              </a:rPr>
              <a:t>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77316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Less waste from spoilage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242816"/>
            <a:ext cx="2596896" cy="117043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4443983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C8102E"/>
                </a:solidFill>
                <a:latin typeface="Cambria"/>
              </a:rPr>
              <a:t>Forecasting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477316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Demand trends inform strategy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6256" y="4242816"/>
            <a:ext cx="2596896" cy="117043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4443983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C8102E"/>
                </a:solidFill>
                <a:latin typeface="Cambria"/>
              </a:rPr>
              <a:t>Supply 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477316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Ordering aligned to demand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Domino's - Predictive Purchase Order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0367" y="64373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2262E"/>
                </a:solidFill>
                <a:latin typeface="Cambria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Two source files covering the whole of 2015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19072"/>
            <a:ext cx="5431536" cy="148132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3852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0437B"/>
                </a:solidFill>
                <a:latin typeface="Calibri"/>
              </a:rPr>
              <a:t>pizza_sales.csv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0428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One row per pizza sold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51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8102E"/>
                </a:solidFill>
                <a:latin typeface="Cambria"/>
              </a:rPr>
              <a:t>48,620</a:t>
            </a:r>
            <a:r>
              <a:rPr sz="1150" b="0" i="0">
                <a:solidFill>
                  <a:srgbClr val="6B7280"/>
                </a:solidFill>
                <a:latin typeface="Calibri"/>
              </a:rPr>
              <a:t>  rows        </a:t>
            </a:r>
            <a:r>
              <a:rPr sz="1700" b="1" i="0">
                <a:solidFill>
                  <a:srgbClr val="C8102E"/>
                </a:solidFill>
                <a:latin typeface="Cambria"/>
              </a:rPr>
              <a:t>12</a:t>
            </a:r>
            <a:r>
              <a:rPr sz="1150" b="0" i="0">
                <a:solidFill>
                  <a:srgbClr val="6B7280"/>
                </a:solidFill>
                <a:latin typeface="Calibri"/>
              </a:rPr>
              <a:t>  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19072"/>
            <a:ext cx="5431536" cy="148132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3852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0437B"/>
                </a:solidFill>
                <a:latin typeface="Calibri"/>
              </a:rPr>
              <a:t>Pizza_ingredients.csv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0428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Grams of each ingredient per pizza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8102E"/>
                </a:solidFill>
                <a:latin typeface="Cambria"/>
              </a:rPr>
              <a:t>518</a:t>
            </a:r>
            <a:r>
              <a:rPr sz="1150" b="0" i="0">
                <a:solidFill>
                  <a:srgbClr val="6B7280"/>
                </a:solidFill>
                <a:latin typeface="Calibri"/>
              </a:rPr>
              <a:t>  rows        </a:t>
            </a:r>
            <a:r>
              <a:rPr sz="1700" b="1" i="0">
                <a:solidFill>
                  <a:srgbClr val="C8102E"/>
                </a:solidFill>
                <a:latin typeface="Cambria"/>
              </a:rPr>
              <a:t>4</a:t>
            </a:r>
            <a:r>
              <a:rPr sz="1150" b="0" i="0">
                <a:solidFill>
                  <a:srgbClr val="6B7280"/>
                </a:solidFill>
                <a:latin typeface="Calibri"/>
              </a:rPr>
              <a:t> 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52958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C8102E"/>
                </a:solidFill>
                <a:latin typeface="Calibri"/>
              </a:rPr>
              <a:t>THE BUSINESS, IN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931920"/>
            <a:ext cx="20116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500" b="1" i="0">
                <a:solidFill>
                  <a:srgbClr val="00437B"/>
                </a:solidFill>
                <a:latin typeface="Cambria"/>
              </a:rPr>
              <a:t>49,574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572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Pizzas sold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3931920"/>
            <a:ext cx="20116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500" b="1" i="0">
                <a:solidFill>
                  <a:srgbClr val="00437B"/>
                </a:solidFill>
                <a:latin typeface="Cambria"/>
              </a:rPr>
              <a:t>21,350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4572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931920"/>
            <a:ext cx="20116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500" b="1" i="0">
                <a:solidFill>
                  <a:srgbClr val="00437B"/>
                </a:solidFill>
                <a:latin typeface="Cambria"/>
              </a:rPr>
              <a:t>$817,860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572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0336" y="3931920"/>
            <a:ext cx="20116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500" b="1" i="0">
                <a:solidFill>
                  <a:srgbClr val="00437B"/>
                </a:solidFill>
                <a:latin typeface="Cambria"/>
              </a:rPr>
              <a:t>358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4572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Trading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3931920"/>
            <a:ext cx="20116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500" b="1" i="0">
                <a:solidFill>
                  <a:srgbClr val="00437B"/>
                </a:solidFill>
                <a:latin typeface="Cambria"/>
              </a:rPr>
              <a:t>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4572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Pizza-size variants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2064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285231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8102E"/>
                </a:solidFill>
                <a:latin typeface="Calibri"/>
              </a:rPr>
              <a:t>Key structure:  </a:t>
            </a:r>
            <a:r>
              <a:rPr sz="1300" b="0" i="0">
                <a:solidFill>
                  <a:srgbClr val="22262E"/>
                </a:solidFill>
                <a:latin typeface="Calibri"/>
              </a:rPr>
              <a:t>32 distinct pizzas are sold in 91 name-and-size variants. Ingredient quantities are defined per variant, not per pizza.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Domino's - Predictive Purchase Order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0367" y="64373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2262E"/>
                </a:solidFill>
                <a:latin typeface="Cambria"/>
              </a:rPr>
              <a:t>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70 missing values - every one recovered, none dropped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19072"/>
            <a:ext cx="7772400" cy="384048"/>
          </a:xfrm>
          <a:prstGeom prst="roundRect">
            <a:avLst>
              <a:gd name="adj" fmla="val 6000"/>
            </a:avLst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10512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6B7280"/>
                </a:solidFill>
                <a:latin typeface="Calibri"/>
              </a:rPr>
              <a:t>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18688" y="1810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6B7280"/>
                </a:solidFill>
                <a:latin typeface="Calibri"/>
              </a:rPr>
              <a:t>MISSING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181051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6B7280"/>
                </a:solidFill>
                <a:latin typeface="Calibri"/>
              </a:rPr>
              <a:t>RECOVERY METHOD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39696"/>
            <a:ext cx="7772400" cy="38404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23113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437B"/>
                </a:solidFill>
                <a:latin typeface="Calibri"/>
              </a:rPr>
              <a:t>total_price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223113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8102E"/>
                </a:solidFill>
                <a:latin typeface="Calibr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231136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262E"/>
                </a:solidFill>
                <a:latin typeface="Calibri"/>
              </a:rPr>
              <a:t>Recomputed as unit_price x quantity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63347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437B"/>
                </a:solidFill>
                <a:latin typeface="Calibri"/>
              </a:rPr>
              <a:t>pizza_category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263347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8102E"/>
                </a:solidFill>
                <a:latin typeface="Calibri"/>
              </a:rP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633472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262E"/>
                </a:solidFill>
                <a:latin typeface="Calibri"/>
              </a:rPr>
              <a:t>Looked up from pizza_name_id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44368"/>
            <a:ext cx="7772400" cy="38404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03580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437B"/>
                </a:solidFill>
                <a:latin typeface="Calibri"/>
              </a:rPr>
              <a:t>pizza_ingredients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03580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8102E"/>
                </a:solidFill>
                <a:latin typeface="Calibr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035808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262E"/>
                </a:solidFill>
                <a:latin typeface="Calibri"/>
              </a:rPr>
              <a:t>Looked up from pizza_name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43814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437B"/>
                </a:solidFill>
                <a:latin typeface="Calibri"/>
              </a:rPr>
              <a:t>pizza_name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8688" y="343814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8102E"/>
                </a:solidFill>
                <a:latin typeface="Calibr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3438144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262E"/>
                </a:solidFill>
                <a:latin typeface="Calibri"/>
              </a:rPr>
              <a:t>Looked up from the ingredient string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749039"/>
            <a:ext cx="7772400" cy="38404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840479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437B"/>
                </a:solidFill>
                <a:latin typeface="Calibri"/>
              </a:rPr>
              <a:t>pizza_name_id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8688" y="3840479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8102E"/>
                </a:solidFill>
                <a:latin typeface="Calibri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3840479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262E"/>
                </a:solidFill>
                <a:latin typeface="Calibri"/>
              </a:rPr>
              <a:t>Rebuilt from (pizza_name, pizza_size)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424281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437B"/>
                </a:solidFill>
                <a:latin typeface="Calibri"/>
              </a:rPr>
              <a:t>Items_Qty_In_Grams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688" y="4242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8102E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4242816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262E"/>
                </a:solidFill>
                <a:latin typeface="Calibri"/>
              </a:rPr>
              <a:t>Mean gram-weight of that pizza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13648" y="1719072"/>
            <a:ext cx="3017520" cy="2834640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51392" y="2029967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2" y="2414015"/>
            <a:ext cx="25603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48,620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1392" y="3090672"/>
            <a:ext cx="2560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A8AEB8"/>
                </a:solidFill>
                <a:latin typeface="Calibri"/>
              </a:rPr>
              <a:t>of 48,620 sales rows retained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1392" y="3694176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1">
                <a:solidFill>
                  <a:srgbClr val="A8AEB8"/>
                </a:solidFill>
                <a:latin typeface="Calibri"/>
              </a:rPr>
              <a:t>Every dropped row is a real sale. Deleting them biases demand downward.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Domino's - Predictive Purchase Order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10367" y="64373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2262E"/>
                </a:solidFill>
                <a:latin typeface="Cambria"/>
              </a:rPr>
              <a:t>Data Trap 1 - Two Date Formats in One Column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The single most dangerous defect in this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19072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3852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WHAT THE COLUMN ACTUALLY HOLDS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86000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1/1/2015</a:t>
            </a:r>
            <a:r>
              <a:rPr sz="1200" b="0" i="0">
                <a:solidFill>
                  <a:srgbClr val="A8AEB8"/>
                </a:solidFill>
                <a:latin typeface="Calibri"/>
              </a:rPr>
              <a:t>      days 1-12,  d/m/Y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13-01-2015</a:t>
            </a:r>
            <a:r>
              <a:rPr sz="1200" b="0" i="0">
                <a:solidFill>
                  <a:srgbClr val="A8AEB8"/>
                </a:solidFill>
                <a:latin typeface="Calibri"/>
              </a:rPr>
              <a:t>   days 13-31,  d-m-Y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719072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93852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C8102E"/>
                </a:solidFill>
                <a:latin typeface="Calibri"/>
              </a:rPr>
              <a:t>WHY IT HAPPENS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286000"/>
            <a:ext cx="48463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 i="0">
                <a:solidFill>
                  <a:srgbClr val="22262E"/>
                </a:solidFill>
                <a:latin typeface="Calibri"/>
              </a:rPr>
              <a:t>A spreadsheet export artefact. Rows where day and month are both 12 or less were silently reformatted; the unambiguous ones were left alone.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19856"/>
            <a:ext cx="1106424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62102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8102E"/>
                </a:solidFill>
                <a:latin typeface="Cambria"/>
              </a:rPr>
              <a:t>The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968496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300" b="0" i="0">
                <a:solidFill>
                  <a:srgbClr val="22262E"/>
                </a:solidFill>
                <a:latin typeface="Calibri"/>
              </a:rPr>
              <a:t>Parsing month-first corrupts every date in the first twelve days of each month - about 40% of the dataset - without raising a single error. The forecast would look plausible and be wrong.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846320"/>
            <a:ext cx="11064240" cy="877824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502920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THE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5340096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A8AEB8"/>
                </a:solidFill>
                <a:latin typeface="Calibri"/>
              </a:rPr>
              <a:t>A day-first parser that tries each format in turn  -&gt;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all 48,620 dates parsed, zero failures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Domino's - Predictive Purchase Order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10367" y="64373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2262E"/>
                </a:solidFill>
                <a:latin typeface="Cambria"/>
              </a:rPr>
              <a:t>Data Trap 2 - The ID Encodes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Why the forecast is built per variant, not per pizza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19072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56815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8A33D"/>
                </a:solidFill>
                <a:latin typeface="Consolas"/>
              </a:rPr>
              <a:t>bbq_ckn_l</a:t>
            </a:r>
            <a:r>
              <a:rPr sz="1500" b="0" i="0">
                <a:solidFill>
                  <a:srgbClr val="A8AEB8"/>
                </a:solidFill>
                <a:latin typeface="Calibri"/>
              </a:rPr>
              <a:t>   =   Barbecue Chicken   +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LARGE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14015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A8AEB8"/>
                </a:solidFill>
                <a:latin typeface="Calibri"/>
              </a:rPr>
              <a:t>pizza_name_id carries both the recipe and the size in one field.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200400"/>
            <a:ext cx="3520440" cy="170078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1985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00437B"/>
                </a:solidFill>
                <a:latin typeface="Cambria"/>
              </a:rPr>
              <a:t>Recovering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0390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50" b="0" i="0">
                <a:solidFill>
                  <a:srgbClr val="22262E"/>
                </a:solidFill>
                <a:latin typeface="Calibri"/>
              </a:rPr>
              <a:t>The 16 missing ids cannot come from the name alone. The (name, size) pair is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3200400"/>
            <a:ext cx="3520440" cy="170078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341985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C8102E"/>
                </a:solidFill>
                <a:latin typeface="Cambria"/>
              </a:rPr>
              <a:t>Forecasting on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380390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50" b="0" i="0">
                <a:solidFill>
                  <a:srgbClr val="22262E"/>
                </a:solidFill>
                <a:latin typeface="Calibri"/>
              </a:rPr>
              <a:t>A large pizza uses more of every ingredient. Forecast by name and the size mix is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3200400"/>
            <a:ext cx="3520440" cy="170078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1" y="341985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E8A33D"/>
                </a:solidFill>
                <a:latin typeface="Cambria"/>
              </a:rPr>
              <a:t>The consequence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1" y="380390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50" b="0" i="0">
                <a:solidFill>
                  <a:srgbClr val="22262E"/>
                </a:solidFill>
                <a:latin typeface="Calibri"/>
              </a:rPr>
              <a:t>Ingredient totals would be quietly wrong - plausible numbers, incorrect order.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20640"/>
            <a:ext cx="110642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532180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8102E"/>
                </a:solidFill>
                <a:latin typeface="Calibri"/>
              </a:rPr>
              <a:t>Decision:  </a:t>
            </a:r>
            <a:r>
              <a:rPr sz="1300" b="0" i="0">
                <a:solidFill>
                  <a:srgbClr val="22262E"/>
                </a:solidFill>
                <a:latin typeface="Calibri"/>
              </a:rPr>
              <a:t>forecast all 91 pizza_name_id variants separately, so each size's grammage multiplies that size's own predicted demand.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Domino's - Predictive Purchase Order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0367" y="64373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2262E"/>
                </a:solidFill>
                <a:latin typeface="Cambria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Turning raw transactions into modelling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19072"/>
            <a:ext cx="5431536" cy="102412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993391"/>
            <a:ext cx="475488" cy="475488"/>
          </a:xfrm>
          <a:prstGeom prst="ellipse">
            <a:avLst/>
          </a:prstGeom>
          <a:solidFill>
            <a:srgbClr val="004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84831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011679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2262E"/>
                </a:solidFill>
                <a:latin typeface="Cambria"/>
              </a:rPr>
              <a:t>Calendar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340864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Day of week, month, ISO week, 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19072"/>
            <a:ext cx="5431536" cy="102412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3952" y="1993391"/>
            <a:ext cx="475488" cy="47548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84831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011679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2262E"/>
                </a:solidFill>
                <a:latin typeface="Cambria"/>
              </a:rPr>
              <a:t>Holidays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340864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US public holiday flag - 9 dates in 2015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889504"/>
            <a:ext cx="5431536" cy="102412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163824"/>
            <a:ext cx="475488" cy="47548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55264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18211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2262E"/>
                </a:solidFill>
                <a:latin typeface="Cambria"/>
              </a:rPr>
              <a:t>Promotion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511296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Weekend flag, per the project brief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889504"/>
            <a:ext cx="5431536" cy="102412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163824"/>
            <a:ext cx="475488" cy="475488"/>
          </a:xfrm>
          <a:prstGeom prst="ellipse">
            <a:avLst/>
          </a:prstGeom>
          <a:solidFill>
            <a:srgbClr val="004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255264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18211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2262E"/>
                </a:solidFill>
                <a:latin typeface="Cambria"/>
              </a:rPr>
              <a:t>Aggregation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511296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Daily rows rolled up to weekly totals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20624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40740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WHY WEEKLY, NOT DAILY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736592"/>
            <a:ext cx="1042416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300" b="0" i="0">
                <a:solidFill>
                  <a:srgbClr val="A8AEB8"/>
                </a:solidFill>
                <a:latin typeface="Calibri"/>
              </a:rPr>
              <a:t>The purchase order covers one week, so the model should predict the quantity actually being ordered. Weekly aggregation also smooths the day-to-day noise that no forecaster can capture, leaving the trend and seasonality that it can.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Domino's - Predictive Purchase Order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0367" y="64373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2262E"/>
                </a:solidFill>
                <a:latin typeface="Cambria"/>
              </a:rPr>
              <a:t>What Sells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Demand is spread flat across the menu</a:t>
            </a:r>
          </a:p>
        </p:txBody>
      </p:sp>
      <p:pic>
        <p:nvPicPr>
          <p:cNvPr id="5" name="Picture 4" descr="01_top_10_pizz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1880733"/>
            <a:ext cx="6675120" cy="36268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16367" y="1719072"/>
            <a:ext cx="4114800" cy="188366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93852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C8102E"/>
                </a:solidFill>
                <a:latin typeface="Cambria"/>
              </a:rPr>
              <a:t>No runaway bestseller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04288"/>
            <a:ext cx="3611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50" b="0" i="0">
                <a:solidFill>
                  <a:srgbClr val="22262E"/>
                </a:solidFill>
                <a:latin typeface="Calibri"/>
              </a:rPr>
              <a:t>The top five pizzas sit within 3.5% of each other. Ingredient planning has to cover the whole menu, not a handful of stars.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16367" y="3803904"/>
            <a:ext cx="4114800" cy="1865376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40233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THE OUTLIER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352544"/>
            <a:ext cx="3611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mbria"/>
              </a:rPr>
              <a:t>490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864608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A8AEB8"/>
                </a:solidFill>
                <a:latin typeface="Calibri"/>
              </a:rPr>
              <a:t>The Brie Carre Pizza - about a fifth of the leaders, and the only real laggard.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Domino's - Predictive Purchase Order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10367" y="64373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2262E"/>
                </a:solidFill>
                <a:latin typeface="Cambria"/>
              </a:rPr>
              <a:t>The Weekend Assumption Does Not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A finding that contradicts the project brief</a:t>
            </a:r>
          </a:p>
        </p:txBody>
      </p:sp>
      <p:pic>
        <p:nvPicPr>
          <p:cNvPr id="5" name="Picture 4" descr="05_sales_by_day_of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17439"/>
            <a:ext cx="6675120" cy="315347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16367" y="1719072"/>
            <a:ext cx="4114800" cy="1481328"/>
          </a:xfrm>
          <a:prstGeom prst="roundRect">
            <a:avLst>
              <a:gd name="adj" fmla="val 6000"/>
            </a:avLst>
          </a:prstGeom>
          <a:solidFill>
            <a:srgbClr val="FB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93852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C8102E"/>
                </a:solidFill>
                <a:latin typeface="Calibri"/>
              </a:rPr>
              <a:t>THE BRIEF ASSUMES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67712"/>
            <a:ext cx="3611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50" b="0" i="0">
                <a:solidFill>
                  <a:srgbClr val="22262E"/>
                </a:solidFill>
                <a:latin typeface="Calibri"/>
              </a:rPr>
              <a:t>Weekends are the promotional period, so weekend demand should be higher.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16367" y="3401568"/>
            <a:ext cx="4114800" cy="1225296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60273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THE DATA SAYS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931920"/>
            <a:ext cx="3611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130</a:t>
            </a:r>
            <a:r>
              <a:rPr sz="1200" b="0" i="0">
                <a:solidFill>
                  <a:srgbClr val="A8AEB8"/>
                </a:solidFill>
                <a:latin typeface="Calibri"/>
              </a:rPr>
              <a:t> /day weekend   vs   </a:t>
            </a:r>
            <a:r>
              <a:rPr sz="2200" b="1" i="0">
                <a:solidFill>
                  <a:srgbClr val="E8A33D"/>
                </a:solidFill>
                <a:latin typeface="Cambria"/>
              </a:rPr>
              <a:t>142</a:t>
            </a:r>
            <a:r>
              <a:rPr sz="1200" b="0" i="0">
                <a:solidFill>
                  <a:srgbClr val="A8AEB8"/>
                </a:solidFill>
                <a:latin typeface="Calibri"/>
              </a:rPr>
              <a:t> weekday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16367" y="4828031"/>
            <a:ext cx="4114800" cy="84124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5010912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22262E"/>
                </a:solidFill>
                <a:latin typeface="Calibri"/>
              </a:rPr>
              <a:t>Friday peaks at 165. Sunday is the weakest day of the week. </a:t>
            </a:r>
            <a:r>
              <a:rPr sz="1200" b="1" i="0">
                <a:solidFill>
                  <a:srgbClr val="C8102E"/>
                </a:solidFill>
                <a:latin typeface="Calibri"/>
              </a:rPr>
              <a:t>Holidays are the real uplift: 169 vs 138.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Domino's - Predictive Purchase Order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10367" y="64373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2262E"/>
                </a:solidFill>
                <a:latin typeface="Cambria"/>
              </a:rPr>
              <a:t>Data Trap 3 - Truncated Weeks at Both 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Two buckets that look like demand collapses but are not</a:t>
            </a:r>
          </a:p>
        </p:txBody>
      </p:sp>
      <p:pic>
        <p:nvPicPr>
          <p:cNvPr id="5" name="Picture 4" descr="10_week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23195"/>
            <a:ext cx="6858000" cy="292367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99248" y="1719072"/>
            <a:ext cx="3931920" cy="1920240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36992" y="193852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2267712"/>
            <a:ext cx="3474720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50" b="0" i="0">
                <a:solidFill>
                  <a:srgbClr val="A8AEB8"/>
                </a:solidFill>
                <a:latin typeface="Calibri"/>
              </a:rPr>
              <a:t>2015 starts and ends mid-week. The first bucket holds 4 days (591 units), the last holds 4 days (442) - against a full-week mean of 952.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99248" y="3840479"/>
            <a:ext cx="3931920" cy="181051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6992" y="404164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C8102E"/>
                </a:solidFill>
                <a:latin typeface="Calibri"/>
              </a:rPr>
              <a:t>THE SUBTLETY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4370831"/>
            <a:ext cx="3474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22262E"/>
                </a:solidFill>
                <a:latin typeface="Calibri"/>
              </a:rPr>
              <a:t>Test date-range coverage, not days-with-sales. Christmas Day is a genuine zero-sales day inside a complete week - real demand information worth keeping.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Domino's - Predictive Purchase Order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10367" y="64373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2262E"/>
                </a:solidFill>
                <a:latin typeface="Cambria"/>
              </a:rPr>
              <a:t>Preparing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Stationarity and the train / test split</a:t>
            </a:r>
          </a:p>
        </p:txBody>
      </p:sp>
      <p:pic>
        <p:nvPicPr>
          <p:cNvPr id="5" name="Picture 4" descr="11_acf_pa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03" y="1719072"/>
            <a:ext cx="6027808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07808" y="1719072"/>
            <a:ext cx="4023360" cy="131673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9202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0437B"/>
                </a:solidFill>
                <a:latin typeface="Cambria"/>
              </a:rPr>
              <a:t>Stationarity (ADF)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267712"/>
            <a:ext cx="3520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22262E"/>
                </a:solidFill>
                <a:latin typeface="Calibri"/>
              </a:rPr>
              <a:t>The Augmented Dickey-Fuller test decides whether differencing is needed before ARIMA can be applied.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07808" y="3236976"/>
            <a:ext cx="4023360" cy="120700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3438144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8102E"/>
                </a:solidFill>
                <a:latin typeface="Cambria"/>
              </a:rPr>
              <a:t>ACF / PACF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785615"/>
            <a:ext cx="3520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22262E"/>
                </a:solidFill>
                <a:latin typeface="Calibri"/>
              </a:rPr>
              <a:t>These guide the choice of the AR (p) and MA (q) terms.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4645152"/>
            <a:ext cx="4023360" cy="1005840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828031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SPLIT - CHRONOLOGICAL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138928"/>
            <a:ext cx="3520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40</a:t>
            </a:r>
            <a:r>
              <a:rPr sz="1200" b="0" i="0">
                <a:solidFill>
                  <a:srgbClr val="A8AEB8"/>
                </a:solidFill>
                <a:latin typeface="Calibri"/>
              </a:rPr>
              <a:t> train  /  </a:t>
            </a:r>
            <a:r>
              <a:rPr sz="1700" b="1" i="0">
                <a:solidFill>
                  <a:srgbClr val="FFFFFF"/>
                </a:solidFill>
                <a:latin typeface="Cambria"/>
              </a:rPr>
              <a:t>11</a:t>
            </a:r>
            <a:r>
              <a:rPr sz="1200" b="0" i="0">
                <a:solidFill>
                  <a:srgbClr val="A8AEB8"/>
                </a:solidFill>
                <a:latin typeface="Calibri"/>
              </a:rPr>
              <a:t> test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Domino's - Predictive Purchase Order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10367" y="64373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2262E"/>
                </a:solidFill>
                <a:latin typeface="Cambria"/>
              </a:rPr>
              <a:t>Five Models, One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Identical data, identical held-out weeks, scored on MAPE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19072"/>
            <a:ext cx="2084831" cy="15727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956815"/>
            <a:ext cx="384048" cy="384048"/>
          </a:xfrm>
          <a:prstGeom prst="ellipse">
            <a:avLst/>
          </a:prstGeom>
          <a:solidFill>
            <a:srgbClr val="004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871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262E"/>
                </a:solidFill>
                <a:latin typeface="Cambria"/>
              </a:rPr>
              <a:t>ARIMA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98063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Trend and autocorrelation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8064" y="1719072"/>
            <a:ext cx="2084831" cy="15727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35808" y="1956815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4871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262E"/>
                </a:solidFill>
                <a:latin typeface="Cambria"/>
              </a:rPr>
              <a:t>SARIMA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798063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ARIMA plus a seasonal block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719072"/>
            <a:ext cx="2084831" cy="15727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66944" y="1956815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6944" y="24871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262E"/>
                </a:solidFill>
                <a:latin typeface="Cambria"/>
              </a:rPr>
              <a:t>Prophet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798063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Trend changepoints and holidays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1719072"/>
            <a:ext cx="2084831" cy="15727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0" y="1956815"/>
            <a:ext cx="384048" cy="384048"/>
          </a:xfrm>
          <a:prstGeom prst="ellipse">
            <a:avLst/>
          </a:prstGeom>
          <a:solidFill>
            <a:srgbClr val="004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24871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262E"/>
                </a:solidFill>
                <a:latin typeface="Cambria"/>
              </a:rPr>
              <a:t>Regression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2798063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Calendar-feature baseline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91472" y="1719072"/>
            <a:ext cx="2084831" cy="15727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29215" y="1956815"/>
            <a:ext cx="384048" cy="384048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9215" y="24871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262E"/>
                </a:solidFill>
                <a:latin typeface="Cambria"/>
              </a:rPr>
              <a:t>LSTM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5" y="2798063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Neural sequence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547872"/>
            <a:ext cx="11064240" cy="2139696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749039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WHY MAPE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07822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300" b="0" i="0">
                <a:solidFill>
                  <a:srgbClr val="A8AEB8"/>
                </a:solidFill>
                <a:latin typeface="Calibri"/>
              </a:rPr>
              <a:t>Mean Absolute Percentage Error - the average absolute percentage gap between predicted and actual sales. Lower is better.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681728"/>
            <a:ext cx="1042416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300" b="0" i="0">
                <a:solidFill>
                  <a:srgbClr val="A8AEB8"/>
                </a:solidFill>
                <a:latin typeface="Calibri"/>
              </a:rPr>
              <a:t>It is the right metric here because it is scale-free: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a 10-unit miss on a pizza selling 20 a week matters far more than the same miss on one selling 300.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Domino's - Predictive Purchase Order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0367" y="64373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2262E"/>
                </a:solidFill>
                <a:latin typeface="Cambria"/>
              </a:rPr>
              <a:t>Model Comparison -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SARIMA wins; the neural network comes last</a:t>
            </a:r>
          </a:p>
        </p:txBody>
      </p:sp>
      <p:pic>
        <p:nvPicPr>
          <p:cNvPr id="5" name="Picture 4" descr="18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99254"/>
            <a:ext cx="6949440" cy="37715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90688" y="1719072"/>
            <a:ext cx="3840480" cy="347472"/>
          </a:xfrm>
          <a:prstGeom prst="roundRect">
            <a:avLst>
              <a:gd name="adj" fmla="val 6000"/>
            </a:avLst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91855" y="1792224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19488" y="179222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MAPE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25328" y="179222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ACC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90688" y="2103120"/>
            <a:ext cx="3840480" cy="347472"/>
          </a:xfrm>
          <a:prstGeom prst="roundRect">
            <a:avLst>
              <a:gd name="adj" fmla="val 6000"/>
            </a:avLst>
          </a:prstGeom>
          <a:solidFill>
            <a:srgbClr val="FB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5" y="2167127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8102E"/>
                </a:solidFill>
                <a:latin typeface="Calibri"/>
              </a:rPr>
              <a:t>SARIMA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19488" y="2167127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8102E"/>
                </a:solidFill>
                <a:latin typeface="Calibri"/>
              </a:rPr>
              <a:t>0.0804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25328" y="2167127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8102E"/>
                </a:solidFill>
                <a:latin typeface="Calibri"/>
              </a:rPr>
              <a:t>91.96%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1855" y="2551175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62E"/>
                </a:solidFill>
                <a:latin typeface="Calibri"/>
              </a:rPr>
              <a:t>ARIMA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9488" y="2551175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62E"/>
                </a:solidFill>
                <a:latin typeface="Calibri"/>
              </a:rPr>
              <a:t>0.0853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25328" y="2551175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62E"/>
                </a:solidFill>
                <a:latin typeface="Calibri"/>
              </a:rPr>
              <a:t>91.47%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5" y="2935223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62E"/>
                </a:solidFill>
                <a:latin typeface="Calibri"/>
              </a:rPr>
              <a:t>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9488" y="2935223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62E"/>
                </a:solidFill>
                <a:latin typeface="Calibri"/>
              </a:rPr>
              <a:t>0.0914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25328" y="2935223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62E"/>
                </a:solidFill>
                <a:latin typeface="Calibri"/>
              </a:rPr>
              <a:t>90.86%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5" y="3319271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62E"/>
                </a:solidFill>
                <a:latin typeface="Calibri"/>
              </a:rPr>
              <a:t>Prophet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9488" y="3319271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62E"/>
                </a:solidFill>
                <a:latin typeface="Calibri"/>
              </a:rPr>
              <a:t>0.0962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5328" y="3319271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62E"/>
                </a:solidFill>
                <a:latin typeface="Calibri"/>
              </a:rPr>
              <a:t>90.38%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855" y="370332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LSTM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370332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0.0984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25328" y="3703320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90.16%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90688" y="4114800"/>
            <a:ext cx="3840480" cy="1536192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0144" y="4315968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THE USEFUL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4645152"/>
            <a:ext cx="3429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00" b="0" i="0">
                <a:solidFill>
                  <a:srgbClr val="A8AEB8"/>
                </a:solidFill>
                <a:latin typeface="Calibri"/>
              </a:rPr>
              <a:t>40 training weeks is far too little for an LSTM. Classical models encode the right structure directly and win. Sophistication is not suitability.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Domino's - Predictive Purchase Order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0367" y="64373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2262E"/>
                </a:solidFill>
                <a:latin typeface="Cambria"/>
              </a:rPr>
              <a:t>The Winning Model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SARIMA(1,0,2)(1,1,1,13) against the held-out weeks</a:t>
            </a:r>
          </a:p>
        </p:txBody>
      </p:sp>
      <p:pic>
        <p:nvPicPr>
          <p:cNvPr id="5" name="Picture 4" descr="13_sarima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969" y="1719072"/>
            <a:ext cx="5957756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05088" y="1719072"/>
            <a:ext cx="2926080" cy="1883664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24544" y="19385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MAPE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24544" y="2249424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0.0804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24544" y="2871215"/>
            <a:ext cx="25146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A8AEB8"/>
                </a:solidFill>
                <a:latin typeface="Calibri"/>
              </a:rPr>
              <a:t>91.96% accuracy on weeks the model never saw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05088" y="3803904"/>
            <a:ext cx="2926080" cy="18470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24544" y="400507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C8102E"/>
                </a:solidFill>
                <a:latin typeface="Cambria"/>
              </a:rPr>
              <a:t>Why it won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544" y="4352544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00" b="0" i="0">
                <a:solidFill>
                  <a:srgbClr val="22262E"/>
                </a:solidFill>
                <a:latin typeface="Calibri"/>
              </a:rPr>
              <a:t>The only model with an explicit seasonal block. The grid search selected a 13-week period - roughly a quarter - separating trend from season.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Domino's - Predictive Purchase Order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10367" y="64373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2262E"/>
                </a:solidFill>
                <a:latin typeface="Cambria"/>
              </a:rPr>
              <a:t>From Forecast to Purchase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Three steps to a number a manager can act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19072"/>
            <a:ext cx="3520440" cy="15727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956815"/>
            <a:ext cx="420624" cy="42062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29967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93391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22262E"/>
                </a:solidFill>
                <a:latin typeface="Cambria"/>
              </a:rPr>
              <a:t>Refit on all 51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30175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The split chose the model; the deployed version learns from every week.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719072"/>
            <a:ext cx="3520440" cy="15727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2856" y="1956815"/>
            <a:ext cx="420624" cy="42062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29967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1496" y="1993391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22262E"/>
                </a:solidFill>
                <a:latin typeface="Cambria"/>
              </a:rPr>
              <a:t>Forecast 91 variants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560320"/>
            <a:ext cx="30175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One weekly series per pizza_name_id, each predicted one week ahead.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719072"/>
            <a:ext cx="3520440" cy="15727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02751" y="1956815"/>
            <a:ext cx="420624" cy="42062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1" y="2029967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392" y="1993391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22262E"/>
                </a:solidFill>
                <a:latin typeface="Cambria"/>
              </a:rPr>
              <a:t>Multiply through recipes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1" y="2560320"/>
            <a:ext cx="30175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grams per pizza  x  forecast units, summed by ingredient.</a:t>
            </a:r>
          </a:p>
        </p:txBody>
      </p:sp>
      <p:pic>
        <p:nvPicPr>
          <p:cNvPr id="20" name="Picture 19" descr="22_top_10_ingred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108" y="3456432"/>
            <a:ext cx="3561078" cy="223113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790688" y="3456432"/>
            <a:ext cx="3840480" cy="2231136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1" y="36576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THE 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3986783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1,085</a:t>
            </a:r>
            <a:r>
              <a:rPr sz="1150" b="0" i="0">
                <a:solidFill>
                  <a:srgbClr val="A8AEB8"/>
                </a:solidFill>
                <a:latin typeface="Calibri"/>
              </a:rPr>
              <a:t>   pizzas forecast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553712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64</a:t>
            </a:r>
            <a:r>
              <a:rPr sz="1150" b="0" i="0">
                <a:solidFill>
                  <a:srgbClr val="A8AEB8"/>
                </a:solidFill>
                <a:latin typeface="Calibri"/>
              </a:rPr>
              <a:t>   distinct ingredients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512064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198.79 kg</a:t>
            </a:r>
            <a:r>
              <a:rPr sz="1150" b="0" i="0">
                <a:solidFill>
                  <a:srgbClr val="A8AEB8"/>
                </a:solidFill>
                <a:latin typeface="Calibri"/>
              </a:rPr>
              <a:t>   total weight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Domino's - Predictive Purchase Order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0367" y="64373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A8AEB8"/>
                </a:solidFill>
                <a:latin typeface="Calibri"/>
              </a:rPr>
              <a:t>Week of 28 December 2015 - 3 January 2016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19072"/>
            <a:ext cx="2596896" cy="1371600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975104"/>
            <a:ext cx="25968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8A33D"/>
                </a:solidFill>
                <a:latin typeface="Cambria"/>
              </a:rPr>
              <a:t>91.96%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596896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A8AEB8"/>
                </a:solidFill>
                <a:latin typeface="Calibri"/>
              </a:rPr>
              <a:t>Forecast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6704" y="1719072"/>
            <a:ext cx="2596896" cy="1371600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6704" y="1975104"/>
            <a:ext cx="25968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8A33D"/>
                </a:solidFill>
                <a:latin typeface="Cambria"/>
              </a:rPr>
              <a:t>1,085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2596896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A8AEB8"/>
                </a:solidFill>
                <a:latin typeface="Calibri"/>
              </a:rPr>
              <a:t>Pizzas forecast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19072"/>
            <a:ext cx="2596896" cy="1371600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75104"/>
            <a:ext cx="25968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8A33D"/>
                </a:solidFill>
                <a:latin typeface="Cambria"/>
              </a:rPr>
              <a:t>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596896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A8AEB8"/>
                </a:solidFill>
                <a:latin typeface="Calibri"/>
              </a:rPr>
              <a:t>Ingredients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719072"/>
            <a:ext cx="2596896" cy="1371600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06256" y="1975104"/>
            <a:ext cx="25968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8A33D"/>
                </a:solidFill>
                <a:latin typeface="Cambria"/>
              </a:rPr>
              <a:t>198.8 kg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6256" y="2596896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A8AEB8"/>
                </a:solidFill>
                <a:latin typeface="Calibri"/>
              </a:rPr>
              <a:t>Order 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364991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BUSINESS IMPLICATIONS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3785615"/>
            <a:ext cx="128016" cy="12801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69417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Procurement becomes a decision, not a guess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005072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A8AEB8"/>
                </a:solidFill>
                <a:latin typeface="Calibri"/>
              </a:rPr>
              <a:t>64 ingredients with kilogram quantities a manager can act on directly.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4572000"/>
            <a:ext cx="128016" cy="12801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44805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Waste reduction is where the money 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791456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A8AEB8"/>
                </a:solidFill>
                <a:latin typeface="Calibri"/>
              </a:rPr>
              <a:t>At ~92% accuracy, over-ordering shrinks against ordering by intuition.</a:t>
            </a:r>
          </a:p>
        </p:txBody>
      </p:sp>
      <p:sp>
        <p:nvSpPr>
          <p:cNvPr id="24" name="Oval 23"/>
          <p:cNvSpPr/>
          <p:nvPr/>
        </p:nvSpPr>
        <p:spPr>
          <a:xfrm>
            <a:off x="566928" y="5358383"/>
            <a:ext cx="128016" cy="12801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26694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Friday, not the weekend, is the operational peak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577840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A8AEB8"/>
                </a:solidFill>
                <a:latin typeface="Calibri"/>
              </a:rPr>
              <a:t>Staffing and prep should follow Friday; Sunday is over-resourced.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A8AEB8"/>
                </a:solidFill>
                <a:latin typeface="Calibri"/>
              </a:rPr>
              <a:t>Domino's - Predictive Purchase Order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10367" y="64373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A8AE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2262E"/>
                </a:solidFill>
                <a:latin typeface="Cambria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Stated plainly, because they bound how far this should be trusted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19072"/>
            <a:ext cx="5431536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38528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8102E"/>
                </a:solidFill>
                <a:latin typeface="Cambria"/>
              </a:rPr>
              <a:t>One year of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04288"/>
            <a:ext cx="48920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50" b="0" i="0">
                <a:solidFill>
                  <a:srgbClr val="22262E"/>
                </a:solidFill>
                <a:latin typeface="Calibri"/>
              </a:rPr>
              <a:t>Annual seasonality cannot be learned from a single cycle - only weekly and short-range variation.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19072"/>
            <a:ext cx="5431536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38528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8102E"/>
                </a:solidFill>
                <a:latin typeface="Cambria"/>
              </a:rPr>
              <a:t>Selection used the holdout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04288"/>
            <a:ext cx="48920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50" b="0" i="0">
                <a:solidFill>
                  <a:srgbClr val="22262E"/>
                </a:solidFill>
                <a:latin typeface="Calibri"/>
              </a:rPr>
              <a:t>Hyperparameters were chosen by test MAPE, so 91.96% is mildly optimistic as an estimate of future error.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55263"/>
            <a:ext cx="5431536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47472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8102E"/>
                </a:solidFill>
                <a:latin typeface="Cambria"/>
              </a:rPr>
              <a:t>The forecast week is atypical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840479"/>
            <a:ext cx="48920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50" b="0" i="0">
                <a:solidFill>
                  <a:srgbClr val="22262E"/>
                </a:solidFill>
                <a:latin typeface="Calibri"/>
              </a:rPr>
              <a:t>28 Dec - 3 Jan spans New Year, and holidays run ~22% above normal. There is no second New Year to learn from.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55263"/>
            <a:ext cx="5431536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8102E"/>
                </a:solidFill>
                <a:latin typeface="Cambria"/>
              </a:rPr>
              <a:t>No inventory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79"/>
            <a:ext cx="48920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50" b="0" i="0">
                <a:solidFill>
                  <a:srgbClr val="22262E"/>
                </a:solidFill>
                <a:latin typeface="Calibri"/>
              </a:rPr>
              <a:t>Assumes zero opening stock, no wastage allowance, no supplier pack sizes or minimum order quantities.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19472"/>
            <a:ext cx="11064240" cy="768096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5120640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A8AEB8"/>
                </a:solidFill>
                <a:latin typeface="Calibri"/>
              </a:rPr>
              <a:t>A production system would layer opening stock, wastage allowance and supplier pack sizes on top of this forecast.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Domino's - Predictive Purchase Order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0367" y="643737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9AA1A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C8102E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Raw data in, purchase order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43200"/>
            <a:ext cx="100584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A8AEB8"/>
                </a:solidFill>
                <a:latin typeface="Calibri"/>
              </a:rPr>
              <a:t>The pipeline runs end to end at roughly 92% forecast accuracy - but the most valuable findings were the data problems found on the 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803904"/>
            <a:ext cx="3520440" cy="1298448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E8A33D"/>
                </a:solidFill>
                <a:latin typeface="Cambria"/>
              </a:rPr>
              <a:t>Dual date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70832"/>
            <a:ext cx="3017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50" b="0" i="0">
                <a:solidFill>
                  <a:srgbClr val="A8AEB8"/>
                </a:solidFill>
                <a:latin typeface="Calibri"/>
              </a:rPr>
              <a:t>Would have silently corrupted ~40% of the calendar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3803904"/>
            <a:ext cx="3520440" cy="1298448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40233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E8A33D"/>
                </a:solidFill>
                <a:latin typeface="Cambria"/>
              </a:rPr>
              <a:t>Truncated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4370832"/>
            <a:ext cx="3017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50" b="0" i="0">
                <a:solidFill>
                  <a:srgbClr val="A8AEB8"/>
                </a:solidFill>
                <a:latin typeface="Calibri"/>
              </a:rPr>
              <a:t>Looked like demand collapses at both 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3803904"/>
            <a:ext cx="3520440" cy="1298448"/>
          </a:xfrm>
          <a:prstGeom prst="roundRect">
            <a:avLst>
              <a:gd name="adj" fmla="val 6000"/>
            </a:avLst>
          </a:prstGeom>
          <a:solidFill>
            <a:srgbClr val="1F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1" y="40233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E8A33D"/>
                </a:solidFill>
                <a:latin typeface="Cambria"/>
              </a:rPr>
              <a:t>Size-encoded 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1" y="4370832"/>
            <a:ext cx="3017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50" b="0" i="0">
                <a:solidFill>
                  <a:srgbClr val="A8AEB8"/>
                </a:solidFill>
                <a:latin typeface="Calibri"/>
              </a:rPr>
              <a:t>Determine whether ingredient totals are 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3153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300" b="0" i="1">
                <a:solidFill>
                  <a:srgbClr val="A8AEB8"/>
                </a:solidFill>
                <a:latin typeface="Calibri"/>
              </a:rPr>
              <a:t>On 51 weeks of well-behaved data, a classical seasonal model beat a neural network - and a plain linear regression came within 1.1 points of the winner.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05332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2767" y="608990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A8AEB8"/>
                </a:solidFill>
                <a:latin typeface="Calibri"/>
              </a:rPr>
              <a:t>Sai Naveen Pulivarthi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